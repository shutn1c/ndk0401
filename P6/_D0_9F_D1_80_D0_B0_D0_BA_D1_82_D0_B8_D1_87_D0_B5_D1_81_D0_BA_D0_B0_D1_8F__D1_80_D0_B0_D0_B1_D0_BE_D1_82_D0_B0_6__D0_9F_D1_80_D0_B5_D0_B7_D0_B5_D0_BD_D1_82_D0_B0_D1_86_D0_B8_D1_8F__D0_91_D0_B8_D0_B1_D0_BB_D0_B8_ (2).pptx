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8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0"/>
            <a:ext cx="747979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926080" cy="4114800"/>
          </a:xfrm>
          <a:prstGeom prst="roundRect">
            <a:avLst>
              <a:gd name="adj" fmla="val 17000"/>
            </a:avLst>
          </a:prstGeom>
          <a:solidFill>
            <a:srgbClr val="24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188719"/>
            <a:ext cx="2926080" cy="3950208"/>
          </a:xfrm>
          <a:prstGeom prst="roundRect">
            <a:avLst>
              <a:gd name="adj" fmla="val 17000"/>
            </a:avLst>
          </a:prstGeom>
          <a:solidFill>
            <a:srgbClr val="325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325880"/>
            <a:ext cx="2926080" cy="3785615"/>
          </a:xfrm>
          <a:prstGeom prst="roundRect">
            <a:avLst>
              <a:gd name="adj" fmla="val 17000"/>
            </a:avLst>
          </a:prstGeom>
          <a:solidFill>
            <a:srgbClr val="416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1463039"/>
            <a:ext cx="2926080" cy="3621024"/>
          </a:xfrm>
          <a:prstGeom prst="roundRect">
            <a:avLst>
              <a:gd name="adj" fmla="val 17000"/>
            </a:avLst>
          </a:prstGeom>
          <a:solidFill>
            <a:srgbClr val="587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600200"/>
            <a:ext cx="2926080" cy="3456432"/>
          </a:xfrm>
          <a:prstGeom prst="roundRect">
            <a:avLst>
              <a:gd name="adj" fmla="val 17000"/>
            </a:avLst>
          </a:prstGeom>
          <a:solidFill>
            <a:srgbClr val="86A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737360"/>
            <a:ext cx="2926080" cy="3291840"/>
          </a:xfrm>
          <a:prstGeom prst="roundRect">
            <a:avLst>
              <a:gd name="adj" fmla="val 17000"/>
            </a:avLst>
          </a:prstGeom>
          <a:solidFill>
            <a:srgbClr val="AAC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" y="1207008"/>
            <a:ext cx="3063240" cy="4096512"/>
          </a:xfrm>
          <a:prstGeom prst="roundRect">
            <a:avLst>
              <a:gd name="adj" fmla="val 17000"/>
            </a:avLst>
          </a:prstGeom>
          <a:solidFill>
            <a:srgbClr val="18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1911095"/>
            <a:ext cx="246888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ПР №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2770632"/>
            <a:ext cx="2651760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0EBF5"/>
                </a:solidFill>
                <a:latin typeface="Aptos"/>
              </a:defRPr>
            </a:pPr>
            <a:r>
              <a:t>УЧЕБНЫЙ</a:t>
            </a:r>
          </a:p>
          <a:p>
            <a:pPr>
              <a:spcAft>
                <a:spcPts val="400"/>
              </a:spcAft>
              <a:defRPr sz="2200" b="1">
                <a:solidFill>
                  <a:srgbClr val="E0EBF5"/>
                </a:solidFill>
                <a:latin typeface="Aptos"/>
              </a:defRPr>
            </a:pPr>
            <a:r>
              <a:t>ПРОЕКТ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371600"/>
            <a:ext cx="6675120" cy="1645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183657"/>
                </a:solidFill>
                <a:latin typeface="Aptos"/>
              </a:defRPr>
            </a:pPr>
            <a:r>
              <a:t>СИСТЕМА УЧЁТА КНИГ</a:t>
            </a:r>
          </a:p>
          <a:p>
            <a:pPr>
              <a:spcAft>
                <a:spcPts val="400"/>
              </a:spcAft>
              <a:defRPr sz="3300" b="1">
                <a:solidFill>
                  <a:srgbClr val="183657"/>
                </a:solidFill>
                <a:latin typeface="Aptos"/>
              </a:defRPr>
            </a:pPr>
            <a:r>
              <a:t>В БИБЛИОТЕКЕ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46120"/>
            <a:ext cx="603504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586B7D"/>
                </a:solidFill>
                <a:latin typeface="Aptos"/>
              </a:defRPr>
            </a:pPr>
            <a:r>
              <a:t>Отчёт, руководство пользователя и итоги практических работ № 2–5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937760"/>
            <a:ext cx="2011680" cy="420624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498348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Django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4937760"/>
            <a:ext cx="2011680" cy="420624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498348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64624" y="4937760"/>
            <a:ext cx="1920240" cy="420624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4983480"/>
            <a:ext cx="177393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190488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657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ПРОБЛЕМА И 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Для чего нужна система?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5166360" cy="338328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874519"/>
            <a:ext cx="59436" cy="3383280"/>
          </a:xfrm>
          <a:prstGeom prst="rect">
            <a:avLst/>
          </a:prstGeom>
          <a:solidFill>
            <a:srgbClr val="B95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78231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Было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4754880" cy="2578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Бумажные журналы и отдельные файлы.</a:t>
            </a:r>
          </a:p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Долгий поиск книг.</a:t>
            </a:r>
          </a:p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Сложно контролировать выдачу и возврат.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212080" cy="338328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9436" cy="3383280"/>
          </a:xfrm>
          <a:prstGeom prst="rect">
            <a:avLst/>
          </a:prstGeom>
          <a:solidFill>
            <a:srgbClr val="278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39112"/>
            <a:ext cx="482803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Стало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87752"/>
            <a:ext cx="4800600" cy="2578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Электронный каталог.</a:t>
            </a:r>
          </a:p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Карточки читателей.</a:t>
            </a:r>
          </a:p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Контроль статусов и просрочек.</a:t>
            </a:r>
          </a:p>
          <a:p>
            <a:pPr>
              <a:spcAft>
                <a:spcPts val="400"/>
              </a:spcAft>
              <a:defRPr sz="1900" b="0">
                <a:solidFill>
                  <a:srgbClr val="586B7D"/>
                </a:solidFill>
                <a:latin typeface="Aptos"/>
              </a:defRPr>
            </a:pPr>
            <a:r>
              <a:t>Отчётность по фонду и выдачам.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687568"/>
            <a:ext cx="10881360" cy="5120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83657"/>
                </a:solidFill>
                <a:latin typeface="Aptos"/>
              </a:defRPr>
            </a:pPr>
            <a:r>
              <a:t>Цель — ускорить обслуживание читателей и снизить ошибки библиотечного учёта.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ПРАКТИЧЕСКИЕ РАБОТЫ № 2–5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Как развивался проект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856231"/>
            <a:ext cx="1033271" cy="530352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7"/>
            <a:ext cx="996696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ПР2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1828799"/>
            <a:ext cx="4206240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83657"/>
                </a:solidFill>
                <a:latin typeface="Aptos"/>
              </a:defRPr>
            </a:pPr>
            <a:r>
              <a:t>Проектирование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74519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Цель, архитектура, требования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71016" y="2441448"/>
            <a:ext cx="0" cy="201168"/>
          </a:xfrm>
          <a:prstGeom prst="line">
            <a:avLst/>
          </a:prstGeom>
          <a:ln w="38100">
            <a:solidFill>
              <a:srgbClr val="B2C4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" y="2688336"/>
            <a:ext cx="1033271" cy="530352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70632"/>
            <a:ext cx="996696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ПР3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2660904"/>
            <a:ext cx="4206240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83657"/>
                </a:solidFill>
                <a:latin typeface="Aptos"/>
              </a:defRPr>
            </a:pPr>
            <a:r>
              <a:t>Каркас приложения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706624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Django, БД, начальные справочники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71016" y="3273552"/>
            <a:ext cx="0" cy="201168"/>
          </a:xfrm>
          <a:prstGeom prst="line">
            <a:avLst/>
          </a:prstGeom>
          <a:ln w="38100">
            <a:solidFill>
              <a:srgbClr val="B2C4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2" y="3520440"/>
            <a:ext cx="1033271" cy="530352"/>
          </a:xfrm>
          <a:prstGeom prst="roundRect">
            <a:avLst>
              <a:gd name="adj" fmla="val 17000"/>
            </a:avLst>
          </a:prstGeom>
          <a:solidFill>
            <a:srgbClr val="E2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02736"/>
            <a:ext cx="996696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ПР4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3493008"/>
            <a:ext cx="4206240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83657"/>
                </a:solidFill>
                <a:latin typeface="Aptos"/>
              </a:defRPr>
            </a:pPr>
            <a:r>
              <a:t>Десктоп-авторизация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538728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Отдельный прототип окна входа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71016" y="4105656"/>
            <a:ext cx="0" cy="201168"/>
          </a:xfrm>
          <a:prstGeom prst="line">
            <a:avLst/>
          </a:prstGeom>
          <a:ln w="38100">
            <a:solidFill>
              <a:srgbClr val="B2C4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" y="4352544"/>
            <a:ext cx="1033271" cy="53035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996696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ПР5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4325112"/>
            <a:ext cx="4206240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83657"/>
                </a:solidFill>
                <a:latin typeface="Aptos"/>
              </a:defRPr>
            </a:pPr>
            <a:r>
              <a:t>Функциональные модули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370831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Каталог, читатели, выдачи, аналитика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532120"/>
            <a:ext cx="10661904" cy="539496"/>
          </a:xfrm>
          <a:prstGeom prst="roundRect">
            <a:avLst>
              <a:gd name="adj" fmla="val 17000"/>
            </a:avLst>
          </a:prstGeom>
          <a:solidFill>
            <a:srgbClr val="E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05272"/>
            <a:ext cx="1024128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8B94"/>
                </a:solidFill>
                <a:latin typeface="Aptos"/>
              </a:defRPr>
            </a:pPr>
            <a:r>
              <a:t>ПР6: документация, пошаговое руководство и презентация результатов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ТЕХНИЧЕСКОЕ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Архитектура и точки доступа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47672"/>
            <a:ext cx="3035808" cy="333756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47672"/>
            <a:ext cx="3035808" cy="630936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3"/>
            <a:ext cx="2816352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ПОЛЬЗОВАТЕЛИ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2880360"/>
            <a:ext cx="2523744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953512"/>
            <a:ext cx="2350008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Администратор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3557015"/>
            <a:ext cx="2523744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630168"/>
            <a:ext cx="2350008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Библиотекарь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4233672"/>
            <a:ext cx="2523744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306824"/>
            <a:ext cx="2350008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Заведующий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1947672"/>
            <a:ext cx="3044952" cy="333756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2856" y="1947672"/>
            <a:ext cx="3044952" cy="630936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2584" y="2066543"/>
            <a:ext cx="2825496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ИНТЕРФЕЙСЫ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18888" y="2880360"/>
            <a:ext cx="2532888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2953512"/>
            <a:ext cx="2359152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Django 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8888" y="3557015"/>
            <a:ext cx="2532888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630168"/>
            <a:ext cx="2359152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18888" y="4233672"/>
            <a:ext cx="2532888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0328" y="4306824"/>
            <a:ext cx="2359152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9912" y="1947672"/>
            <a:ext cx="2980944" cy="333756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9912" y="1947672"/>
            <a:ext cx="2980944" cy="630936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066543"/>
            <a:ext cx="2761487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СЕРВЕР И БД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95944" y="2880360"/>
            <a:ext cx="2468879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87384" y="2953512"/>
            <a:ext cx="2295144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Django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95944" y="3557015"/>
            <a:ext cx="2468879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3630168"/>
            <a:ext cx="2295144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5 модулей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4233672"/>
            <a:ext cx="2468879" cy="493776"/>
          </a:xfrm>
          <a:prstGeom prst="roundRect">
            <a:avLst>
              <a:gd name="adj" fmla="val 17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4306824"/>
            <a:ext cx="2295144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22364B"/>
                </a:solidFill>
                <a:latin typeface="Aptos"/>
              </a:defRPr>
            </a:pPr>
            <a:r>
              <a:t>PostgreSQL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94760" y="3657600"/>
            <a:ext cx="676656" cy="0"/>
          </a:xfrm>
          <a:prstGeom prst="line">
            <a:avLst/>
          </a:prstGeom>
          <a:ln w="635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70248" y="3273552"/>
            <a:ext cx="320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›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35240" y="3657600"/>
            <a:ext cx="704087" cy="0"/>
          </a:xfrm>
          <a:prstGeom prst="line">
            <a:avLst/>
          </a:prstGeom>
          <a:ln w="635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38159" y="3273552"/>
            <a:ext cx="320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5669280"/>
            <a:ext cx="1078992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B95054"/>
                </a:solidFill>
                <a:latin typeface="Aptos"/>
              </a:defRPr>
            </a:pPr>
            <a:r>
              <a:t>ПР4 (Tkinter) — отдельная учебная демонстрация, а не часть входа в Django.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СОСТАВ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Пять модулей основной версии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783080"/>
            <a:ext cx="3621024" cy="184708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783080"/>
            <a:ext cx="59436" cy="1847088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47672"/>
            <a:ext cx="32369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96312"/>
            <a:ext cx="3209544" cy="10424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86B7D"/>
                </a:solidFill>
                <a:latin typeface="Aptos"/>
              </a:defRPr>
            </a:pPr>
            <a:r>
              <a:t>Учётные записи, JWT и профиль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1901952"/>
            <a:ext cx="457200" cy="420624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947672"/>
            <a:ext cx="31089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1783080"/>
            <a:ext cx="3621024" cy="184708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5424" y="1783080"/>
            <a:ext cx="59436" cy="1847088"/>
          </a:xfrm>
          <a:prstGeom prst="rect">
            <a:avLst/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947672"/>
            <a:ext cx="32369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496312"/>
            <a:ext cx="3209544" cy="10424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86B7D"/>
                </a:solidFill>
                <a:latin typeface="Aptos"/>
              </a:defRPr>
            </a:pPr>
            <a:r>
              <a:t>Авторы, книги, поиск и статусы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901952"/>
            <a:ext cx="457200" cy="420624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1947672"/>
            <a:ext cx="31089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3336" y="1783080"/>
            <a:ext cx="3621024" cy="184708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1783080"/>
            <a:ext cx="59436" cy="1847088"/>
          </a:xfrm>
          <a:prstGeom prst="rect">
            <a:avLst/>
          </a:prstGeom>
          <a:solidFill>
            <a:srgbClr val="E2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1947672"/>
            <a:ext cx="32369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readers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496312"/>
            <a:ext cx="3209544" cy="10424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86B7D"/>
                </a:solidFill>
                <a:latin typeface="Aptos"/>
              </a:defRPr>
            </a:pPr>
            <a:r>
              <a:t>Читательские карточки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11128" y="1901952"/>
            <a:ext cx="457200" cy="420624"/>
          </a:xfrm>
          <a:prstGeom prst="roundRect">
            <a:avLst>
              <a:gd name="adj" fmla="val 17000"/>
            </a:avLst>
          </a:prstGeom>
          <a:solidFill>
            <a:srgbClr val="E2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1947672"/>
            <a:ext cx="31089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3886200"/>
            <a:ext cx="3621024" cy="184708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" y="3886200"/>
            <a:ext cx="59436" cy="1847088"/>
          </a:xfrm>
          <a:prstGeom prst="rect">
            <a:avLst/>
          </a:prstGeom>
          <a:solidFill>
            <a:srgbClr val="278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050791"/>
            <a:ext cx="32369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loans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599432"/>
            <a:ext cx="3209544" cy="10424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86B7D"/>
                </a:solidFill>
                <a:latin typeface="Aptos"/>
              </a:defRPr>
            </a:pPr>
            <a:r>
              <a:t>Оформление, выдача, возврат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75304" y="4005072"/>
            <a:ext cx="457200" cy="420624"/>
          </a:xfrm>
          <a:prstGeom prst="roundRect">
            <a:avLst>
              <a:gd name="adj" fmla="val 17000"/>
            </a:avLst>
          </a:prstGeom>
          <a:solidFill>
            <a:srgbClr val="278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8456" y="4050791"/>
            <a:ext cx="31089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35424" y="3886200"/>
            <a:ext cx="3621024" cy="184708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3886200"/>
            <a:ext cx="59436" cy="1847088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4050791"/>
            <a:ext cx="32369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4599432"/>
            <a:ext cx="3209544" cy="10424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86B7D"/>
                </a:solidFill>
                <a:latin typeface="Aptos"/>
              </a:defRPr>
            </a:pPr>
            <a:r>
              <a:t>Показатели и просрочки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43216" y="4005072"/>
            <a:ext cx="457200" cy="420624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6368" y="4050791"/>
            <a:ext cx="31089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4480560"/>
            <a:ext cx="3145536" cy="9509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83657"/>
                </a:solidFill>
                <a:latin typeface="Aptos"/>
              </a:defRPr>
            </a:pPr>
            <a:r>
              <a:t>Все модули ПР5 работают с общей базой PostgreSQL и единым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СТРУКТУРА ИНФОРМАЦИИ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Какие данные хранит система?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090672" cy="126187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2788920" cy="402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АВТОР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87168"/>
            <a:ext cx="276148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ФИО · страна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090672" cy="126187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65960"/>
            <a:ext cx="2788920" cy="402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КНИГА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487168"/>
            <a:ext cx="276148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Название · номер · статус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3090672" cy="126187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65960"/>
            <a:ext cx="2788920" cy="402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ЧИТАТЕЛЬ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487168"/>
            <a:ext cx="276148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ФИО · билет · телефон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160520"/>
            <a:ext cx="3090672" cy="126187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4343400"/>
            <a:ext cx="2788920" cy="402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ВЫДАЧА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864608"/>
            <a:ext cx="2761488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Книга · читатель · срок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22191" y="2432304"/>
            <a:ext cx="685801" cy="0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0" y="3072384"/>
            <a:ext cx="0" cy="603503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80760" y="3675887"/>
            <a:ext cx="3794760" cy="0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3675887"/>
            <a:ext cx="0" cy="466345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4123944"/>
            <a:ext cx="3090672" cy="1335024"/>
          </a:xfrm>
          <a:prstGeom prst="roundRect">
            <a:avLst>
              <a:gd name="adj" fmla="val 17000"/>
            </a:avLst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2596896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78B94"/>
                </a:solidFill>
                <a:latin typeface="Aptos"/>
              </a:defRPr>
            </a:pPr>
            <a:r>
              <a:t>ПРАВИЛО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72584"/>
            <a:ext cx="2670048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64B"/>
                </a:solidFill>
                <a:latin typeface="Aptos"/>
              </a:defRPr>
            </a:pPr>
            <a:r>
              <a:t>У каждой книги свой уникальный инвентарный номер.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РУКОВОДСТВО ПОЛЬЗОВАТЕЛЯ — ПОДГОТОВКА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Как запустить приложение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640080" cy="521207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00784"/>
            <a:ext cx="475488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216" y="1682496"/>
            <a:ext cx="9646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Открыть папку pr5 в VS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04872"/>
            <a:ext cx="640080" cy="521207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478024"/>
            <a:ext cx="475488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459736"/>
            <a:ext cx="9646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Создать окружение и установить зависимости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82112"/>
            <a:ext cx="640080" cy="521207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55264"/>
            <a:ext cx="475488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3236976"/>
            <a:ext cx="9646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Подготовить PostgreSQL и файл .env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59352"/>
            <a:ext cx="640080" cy="521207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32504"/>
            <a:ext cx="475488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8216" y="4014215"/>
            <a:ext cx="9646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Выполнить миграции и создать администратора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36592"/>
            <a:ext cx="640080" cy="521207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809744"/>
            <a:ext cx="475488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216" y="4791455"/>
            <a:ext cx="9646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Запустить Django: python manage.py runserver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" y="5715000"/>
            <a:ext cx="10451592" cy="484632"/>
          </a:xfrm>
          <a:prstGeom prst="roundRect">
            <a:avLst>
              <a:gd name="adj" fmla="val 17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0584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9598A"/>
                </a:solidFill>
                <a:latin typeface="Aptos"/>
              </a:defRPr>
            </a:pPr>
            <a:r>
              <a:t>Панель управления: http://127.0.0.1:8000/admin/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РАБОТА БИБЛИОТЕКАРЯ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Руководство: вход и справочники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73936"/>
            <a:ext cx="3337560" cy="361188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73936"/>
            <a:ext cx="59436" cy="3611880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38528"/>
            <a:ext cx="295351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1 · Войти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87168"/>
            <a:ext cx="2926079" cy="28072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86B7D"/>
                </a:solidFill>
                <a:latin typeface="Aptos"/>
              </a:defRPr>
            </a:pPr>
            <a:r>
              <a:t>Открыть /admin/ и войти под учётной записью с доступом к админ-панели.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773936"/>
            <a:ext cx="3337560" cy="361188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773936"/>
            <a:ext cx="59436" cy="3611880"/>
          </a:xfrm>
          <a:prstGeom prst="rect">
            <a:avLst/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938528"/>
            <a:ext cx="295351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2 · Добавить книгу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487168"/>
            <a:ext cx="2926079" cy="28072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86B7D"/>
                </a:solidFill>
                <a:latin typeface="Aptos"/>
              </a:defRPr>
            </a:pPr>
            <a:r>
              <a:t>Сначала создать автора.</a:t>
            </a:r>
          </a:p>
          <a:p>
            <a:pPr>
              <a:spcAft>
                <a:spcPts val="400"/>
              </a:spcAft>
              <a:defRPr sz="1800" b="0">
                <a:solidFill>
                  <a:srgbClr val="586B7D"/>
                </a:solidFill>
                <a:latin typeface="Aptos"/>
              </a:defRPr>
            </a:pPr>
            <a:r>
              <a:t>Затем заполнить название, год и уникальный инвентарный номер.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73936"/>
            <a:ext cx="3337560" cy="361188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73936"/>
            <a:ext cx="59436" cy="3611880"/>
          </a:xfrm>
          <a:prstGeom prst="rect">
            <a:avLst/>
          </a:prstGeom>
          <a:solidFill>
            <a:srgbClr val="E2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2953512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3 · Добавить читателя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87168"/>
            <a:ext cx="2926079" cy="28072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86B7D"/>
                </a:solidFill>
                <a:latin typeface="Aptos"/>
              </a:defRPr>
            </a:pPr>
            <a:r>
              <a:t>Заполнить ФИО, билет, телефон и при необходимости группу и контакты.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715000"/>
            <a:ext cx="106527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В ПР5 используются реальные разделы Django Admin; отдельный читательский кабинет не создан.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ГЛАВНЫЙ РАБОЧИЙ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Руководство: выдача и возврат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2505456" cy="190195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020824"/>
            <a:ext cx="2505456" cy="100584"/>
          </a:xfrm>
          <a:prstGeom prst="rect">
            <a:avLst/>
          </a:prstGeom>
          <a:solidFill>
            <a:srgbClr val="278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7440"/>
            <a:ext cx="228600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83657"/>
                </a:solidFill>
                <a:latin typeface="Aptos"/>
              </a:defRPr>
            </a:pPr>
            <a:r>
              <a:t>Книга в фонде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27832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551176"/>
            <a:ext cx="393192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2020824"/>
            <a:ext cx="2505456" cy="190195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3592" y="2020824"/>
            <a:ext cx="2505456" cy="100584"/>
          </a:xfrm>
          <a:prstGeom prst="rect">
            <a:avLst/>
          </a:prstGeom>
          <a:solidFill>
            <a:srgbClr val="E2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2377440"/>
            <a:ext cx="228600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83657"/>
                </a:solidFill>
                <a:latin typeface="Aptos"/>
              </a:defRPr>
            </a:pPr>
            <a:r>
              <a:t>Оформить выдачу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3227832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new + 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551176"/>
            <a:ext cx="393192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2020824"/>
            <a:ext cx="2505456" cy="190195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9672" y="2020824"/>
            <a:ext cx="2505456" cy="100584"/>
          </a:xfrm>
          <a:prstGeom prst="rect">
            <a:avLst/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377440"/>
            <a:ext cx="228600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83657"/>
                </a:solidFill>
                <a:latin typeface="Aptos"/>
              </a:defRPr>
            </a:pPr>
            <a:r>
              <a:t>Выдать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227832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issued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51176"/>
            <a:ext cx="393192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2020824"/>
            <a:ext cx="2505456" cy="190195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45752" y="2020824"/>
            <a:ext cx="2505456" cy="100584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2377440"/>
            <a:ext cx="228600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83657"/>
                </a:solidFill>
                <a:latin typeface="Aptos"/>
              </a:defRPr>
            </a:pPr>
            <a:r>
              <a:t>Принять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3227832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returned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" y="4535424"/>
            <a:ext cx="10561320" cy="1078992"/>
          </a:xfrm>
          <a:prstGeom prst="roundRect">
            <a:avLst>
              <a:gd name="adj" fmla="val 17000"/>
            </a:avLst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4727448"/>
            <a:ext cx="10168128" cy="7040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Срок на дом — 14 дней. При просрочке — 5 руб./день (учебное правило).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ОФОРМЛЕНИЕ ОДНОЙ ВЫДАЧИ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Руководство: действия в Django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73936"/>
            <a:ext cx="1920240" cy="841248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75104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СОЗДАТЬ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773936"/>
            <a:ext cx="8339327" cy="8503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8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865376"/>
            <a:ext cx="7872983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2364B"/>
                </a:solidFill>
                <a:latin typeface="Aptos"/>
              </a:defRPr>
            </a:pPr>
            <a:r>
              <a:t>«Выдачи» → «Добавить» → выбрать читателя, книгу и вид выдачи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18104"/>
            <a:ext cx="1920240" cy="841248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192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ВЫДАТЬ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3118104"/>
            <a:ext cx="8339327" cy="8503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8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209544"/>
            <a:ext cx="7872983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2364B"/>
                </a:solidFill>
                <a:latin typeface="Aptos"/>
              </a:defRPr>
            </a:pPr>
            <a:r>
              <a:t>В списке выбрать запись → действие «Выдать книгу читателю»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62272"/>
            <a:ext cx="1920240" cy="841248"/>
          </a:xfrm>
          <a:prstGeom prst="roundRect">
            <a:avLst>
              <a:gd name="adj" fmla="val 17000"/>
            </a:avLst>
          </a:prstGeom>
          <a:solidFill>
            <a:srgbClr val="278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ПРИНЯТЬ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4462272"/>
            <a:ext cx="8339327" cy="8503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8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4553712"/>
            <a:ext cx="7872983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2364B"/>
                </a:solidFill>
                <a:latin typeface="Aptos"/>
              </a:defRPr>
            </a:pPr>
            <a:r>
              <a:t>Выбрать запись → действие «Принять книгу обратно»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6044184"/>
            <a:ext cx="10634472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95054"/>
                </a:solidFill>
                <a:latin typeface="Aptos"/>
              </a:defRPr>
            </a:pPr>
            <a:r>
              <a:t>Отмена не подтверждённой выдачи реализована через API: POST /api/loans/{id}/cancel/.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ПАНЕЛЬ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Аналитика заведующего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46504"/>
            <a:ext cx="2633472" cy="1307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65376"/>
            <a:ext cx="2258568" cy="6035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23744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Выдач за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1746504"/>
            <a:ext cx="2633472" cy="1307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1865376"/>
            <a:ext cx="2258568" cy="6035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2523744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На руках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1746504"/>
            <a:ext cx="2633472" cy="1307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865376"/>
            <a:ext cx="2258568" cy="6035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523744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Просрочено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0888" y="1746504"/>
            <a:ext cx="2633472" cy="1307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9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1865376"/>
            <a:ext cx="2258568" cy="6035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8B9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2523744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86B7D"/>
                </a:solidFill>
                <a:latin typeface="Aptos"/>
              </a:defRPr>
            </a:pPr>
            <a:r>
              <a:t>Книг в фонде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200400"/>
            <a:ext cx="10698480" cy="3566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86B7D"/>
                </a:solidFill>
                <a:latin typeface="Aptos"/>
              </a:defRPr>
            </a:pPr>
            <a:r>
              <a:t>Числа на слайде — условный пример интерфейса, не результаты измерения.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3685032"/>
            <a:ext cx="6675120" cy="2084831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849624"/>
            <a:ext cx="61264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657"/>
                </a:solidFill>
                <a:latin typeface="Aptos"/>
              </a:defRPr>
            </a:pPr>
            <a:r>
              <a:t>Динамика выдач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88136" y="5020056"/>
            <a:ext cx="813816" cy="320040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01952" y="5020056"/>
            <a:ext cx="850392" cy="146304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52344" y="4626864"/>
            <a:ext cx="859536" cy="539496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11880" y="4626864"/>
            <a:ext cx="877824" cy="219456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489704" y="4425696"/>
            <a:ext cx="886968" cy="420624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76672" y="4425696"/>
            <a:ext cx="1051560" cy="146304"/>
          </a:xfrm>
          <a:prstGeom prst="line">
            <a:avLst/>
          </a:prstGeom>
          <a:ln w="38100">
            <a:solidFill>
              <a:srgbClr val="17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2415" y="5294376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56232" y="4974336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06624" y="5120640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66160" y="4581144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43984" y="4800600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30952" y="4379976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82512" y="4526280"/>
            <a:ext cx="91440" cy="91440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62672" y="3685032"/>
            <a:ext cx="3739896" cy="2084831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6408" y="3849624"/>
            <a:ext cx="3319272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657"/>
                </a:solidFill>
                <a:latin typeface="Aptos"/>
              </a:defRPr>
            </a:pPr>
            <a:r>
              <a:t>Панель содержит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45552" y="4462272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01583" y="4343400"/>
            <a:ext cx="306324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64B"/>
                </a:solidFill>
                <a:latin typeface="Aptos"/>
              </a:defRPr>
            </a:pPr>
            <a:r>
              <a:t>Топ популярных книг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45552" y="4773168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1583" y="4654296"/>
            <a:ext cx="306324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64B"/>
                </a:solidFill>
                <a:latin typeface="Aptos"/>
              </a:defRPr>
            </a:pPr>
            <a:r>
              <a:t>Состав фонда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5552" y="5084064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4965192"/>
            <a:ext cx="306324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64B"/>
                </a:solidFill>
                <a:latin typeface="Aptos"/>
              </a:defRPr>
            </a:pPr>
            <a:r>
              <a:t>Нагрузка сотрудников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45552" y="5394959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5276088"/>
            <a:ext cx="306324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64B"/>
                </a:solidFill>
                <a:latin typeface="Aptos"/>
              </a:defRPr>
            </a:pPr>
            <a:r>
              <a:t>Список должников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ТЕСТИРОВАНИЕ И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Проверка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01368"/>
            <a:ext cx="3054096" cy="3429000"/>
          </a:xfrm>
          <a:prstGeom prst="roundRect">
            <a:avLst>
              <a:gd name="adj" fmla="val 17000"/>
            </a:avLst>
          </a:prstGeom>
          <a:solidFill>
            <a:srgbClr val="18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313432"/>
            <a:ext cx="2267712" cy="11612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7100" b="1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657600"/>
            <a:ext cx="2066543" cy="5852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D9E9F3"/>
                </a:solidFill>
                <a:latin typeface="Aptos"/>
              </a:defRPr>
            </a:pPr>
            <a:r>
              <a:t>тестов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636008"/>
            <a:ext cx="2596896" cy="3566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D9E9F3"/>
                </a:solidFill>
                <a:latin typeface="Aptos"/>
              </a:defRPr>
            </a:pPr>
            <a:r>
              <a:t>по отчёту ПР5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048255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9384"/>
            <a:ext cx="667512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Авторизация и защита доступа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688335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569463"/>
            <a:ext cx="667512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Создание и поиск книг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328415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3209544"/>
            <a:ext cx="667512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Уникальность инвентарных номеров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968495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849623"/>
            <a:ext cx="667512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Выдача, возврат, просрочка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608576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489704"/>
            <a:ext cx="667512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2364B"/>
                </a:solidFill>
                <a:latin typeface="Aptos"/>
              </a:defRPr>
            </a:pPr>
            <a:r>
              <a:t>Обновление показателей отчётов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806440"/>
            <a:ext cx="10625328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86B7D"/>
                </a:solidFill>
                <a:latin typeface="Aptos"/>
              </a:defRPr>
            </a:pPr>
            <a:r>
              <a:t>Указан результат из приложенного отчёта ПР5; повторный запуск тестов здесь не выполнялся.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ГРАНИЦЫ УЧЕБНОГО ПРОТОТИПА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Что ещё нужно улучшить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73936"/>
            <a:ext cx="5221224" cy="3593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73936"/>
            <a:ext cx="59436" cy="3593592"/>
          </a:xfrm>
          <a:prstGeom prst="rect">
            <a:avLst/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38528"/>
            <a:ext cx="48371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Сейчас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87168"/>
            <a:ext cx="4809744" cy="2788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Админ-панель, API, отчёты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Роли хранятся в данных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Нет отдельного кабинета читателя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Tkinter — самостоятельный пример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73936"/>
            <a:ext cx="5221224" cy="3593592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73936"/>
            <a:ext cx="59436" cy="3593592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38528"/>
            <a:ext cx="4837176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83657"/>
                </a:solidFill>
                <a:latin typeface="Aptos"/>
              </a:defRPr>
            </a:pPr>
            <a:r>
              <a:t>Следующий этап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487168"/>
            <a:ext cx="4809744" cy="2788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Разграничение прав по ролям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Удобный веб-интерфейс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Безопасные настройки сервера</a:t>
            </a:r>
          </a:p>
          <a:p>
            <a:pPr>
              <a:spcAft>
                <a:spcPts val="400"/>
              </a:spcAft>
              <a:defRPr sz="1700" b="0">
                <a:solidFill>
                  <a:srgbClr val="586B7D"/>
                </a:solidFill>
                <a:latin typeface="Aptos"/>
              </a:defRPr>
            </a:pPr>
            <a:r>
              <a:t>• Резервные копии и журнал событий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715000"/>
            <a:ext cx="1060704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83657"/>
                </a:solidFill>
                <a:latin typeface="Aptos"/>
              </a:defRPr>
            </a:pPr>
            <a:r>
              <a:t>Проект предназначен для учебного использования и демонстрации основных процессов.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92608"/>
            <a:ext cx="10058400" cy="2468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78B94"/>
                </a:solidFill>
                <a:latin typeface="Aptos"/>
              </a:defRPr>
            </a:pPr>
            <a: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11018520" cy="74066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83657"/>
                </a:solidFill>
                <a:latin typeface="Aptos"/>
              </a:defRPr>
            </a:pPr>
            <a:r>
              <a:t>Итог практической работы №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91088" cy="10972"/>
          </a:xfrm>
          <a:prstGeom prst="rect">
            <a:avLst/>
          </a:prstGeom>
          <a:solidFill>
            <a:srgbClr val="D3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83680"/>
            <a:ext cx="9144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Система учёта книг в библиотеке  |  Практическая №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56248"/>
            <a:ext cx="548640" cy="2103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86B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755648"/>
            <a:ext cx="10524744" cy="347472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>
            <a:solidFill>
              <a:srgbClr val="DE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139696"/>
            <a:ext cx="9784080" cy="6217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183657"/>
                </a:solidFill>
                <a:latin typeface="Aptos"/>
              </a:defRPr>
            </a:pPr>
            <a:r>
              <a:t>Подготовлен единый комплект документации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7904" y="3154679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3035808"/>
            <a:ext cx="8823959" cy="512063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2364B"/>
                </a:solidFill>
                <a:latin typeface="Aptos"/>
              </a:defRPr>
            </a:pPr>
            <a:r>
              <a:t>Описаны архитектура и пять модулей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3685032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73936" y="3566160"/>
            <a:ext cx="8823959" cy="512063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2364B"/>
                </a:solidFill>
                <a:latin typeface="Aptos"/>
              </a:defRPr>
            </a:pPr>
            <a:r>
              <a:t>Составлено пошаговое руководство пользователя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" y="4215383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936" y="4096511"/>
            <a:ext cx="8823959" cy="512063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2364B"/>
                </a:solidFill>
                <a:latin typeface="Aptos"/>
              </a:defRPr>
            </a:pPr>
            <a:r>
              <a:t>Систематизированы бизнес-правила и проверки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17904" y="4745736"/>
            <a:ext cx="118872" cy="118872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4626864"/>
            <a:ext cx="8823959" cy="512063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2364B"/>
                </a:solidFill>
                <a:latin typeface="Aptos"/>
              </a:defRPr>
            </a:pPr>
            <a:r>
              <a:t>Выделены ограничения учебной реализации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5596128"/>
            <a:ext cx="2779776" cy="420624"/>
          </a:xfrm>
          <a:prstGeom prst="roundRect">
            <a:avLst>
              <a:gd name="adj" fmla="val 17000"/>
            </a:avLst>
          </a:prstGeom>
          <a:solidFill>
            <a:srgbClr val="295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6664" y="5641848"/>
            <a:ext cx="26334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ОТЧЁТ В 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1384" y="5596128"/>
            <a:ext cx="2779776" cy="420624"/>
          </a:xfrm>
          <a:prstGeom prst="roundRect">
            <a:avLst>
              <a:gd name="adj" fmla="val 17000"/>
            </a:avLst>
          </a:prstGeom>
          <a:solidFill>
            <a:srgbClr val="17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5641848"/>
            <a:ext cx="26334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ПРЕЗЕНТАЦИЯ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